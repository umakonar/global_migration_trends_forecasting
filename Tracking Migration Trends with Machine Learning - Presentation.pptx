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2" r:id="rId2"/>
    <p:sldId id="268" r:id="rId3"/>
    <p:sldId id="264" r:id="rId4"/>
    <p:sldId id="265" r:id="rId5"/>
    <p:sldId id="266" r:id="rId6"/>
    <p:sldId id="267" r:id="rId7"/>
    <p:sldId id="26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E9DA09-4E4E-49E8-AA8B-3F4CFD3D4432}">
          <p14:sldIdLst>
            <p14:sldId id="262"/>
            <p14:sldId id="268"/>
            <p14:sldId id="264"/>
            <p14:sldId id="265"/>
            <p14:sldId id="266"/>
            <p14:sldId id="267"/>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varScale="1">
        <p:scale>
          <a:sx n="85" d="100"/>
          <a:sy n="85" d="100"/>
        </p:scale>
        <p:origin x="60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5DD263-54EC-44FA-BE19-C13227286521}" type="datetimeFigureOut">
              <a:rPr lang="en-US" smtClean="0"/>
              <a:t>4/18/2025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5C585-A118-4795-8D3E-7A7AADBFB33A}" type="slidenum">
              <a:rPr lang="en-US" smtClean="0"/>
              <a:t>‹#›</a:t>
            </a:fld>
            <a:endParaRPr lang="en-US"/>
          </a:p>
        </p:txBody>
      </p:sp>
    </p:spTree>
    <p:extLst>
      <p:ext uri="{BB962C8B-B14F-4D97-AF65-F5344CB8AC3E}">
        <p14:creationId xmlns:p14="http://schemas.microsoft.com/office/powerpoint/2010/main" val="246266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p:cNvSpPr/>
          <p:nvPr userDrawn="1"/>
        </p:nvSpPr>
        <p:spPr>
          <a:xfrm>
            <a:off x="-1" y="-36095"/>
            <a:ext cx="12204055" cy="6915764"/>
          </a:xfrm>
          <a:prstGeom prst="rect">
            <a:avLst/>
          </a:prstGeom>
          <a:blipFill dpi="0" rotWithShape="1">
            <a:blip r:embed="rId2" cstate="print">
              <a:extLst>
                <a:ext uri="{28A0092B-C50C-407E-A947-70E740481C1C}">
                  <a14:useLocalDpi xmlns:a14="http://schemas.microsoft.com/office/drawing/2010/main" val="0"/>
                </a:ext>
              </a:extLst>
            </a:blip>
            <a:srcRect/>
            <a:stretch>
              <a:fillRect l="-77583" t="-48739" r="-8373" b="-19287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 name="Rectangle 1"/>
          <p:cNvSpPr/>
          <p:nvPr userDrawn="1"/>
        </p:nvSpPr>
        <p:spPr>
          <a:xfrm flipH="1">
            <a:off x="9065832" y="-104461"/>
            <a:ext cx="3138222" cy="2153653"/>
          </a:xfrm>
          <a:custGeom>
            <a:avLst/>
            <a:gdLst>
              <a:gd name="connsiteX0" fmla="*/ 0 w 2961798"/>
              <a:gd name="connsiteY0" fmla="*/ 0 h 1936666"/>
              <a:gd name="connsiteX1" fmla="*/ 2961798 w 2961798"/>
              <a:gd name="connsiteY1" fmla="*/ 0 h 1936666"/>
              <a:gd name="connsiteX2" fmla="*/ 2961798 w 2961798"/>
              <a:gd name="connsiteY2" fmla="*/ 1936666 h 1936666"/>
              <a:gd name="connsiteX3" fmla="*/ 0 w 2961798"/>
              <a:gd name="connsiteY3" fmla="*/ 1936666 h 1936666"/>
              <a:gd name="connsiteX4" fmla="*/ 0 w 2961798"/>
              <a:gd name="connsiteY4" fmla="*/ 0 h 1936666"/>
              <a:gd name="connsiteX0" fmla="*/ 0 w 4020577"/>
              <a:gd name="connsiteY0" fmla="*/ 0 h 1936666"/>
              <a:gd name="connsiteX1" fmla="*/ 4020577 w 4020577"/>
              <a:gd name="connsiteY1" fmla="*/ 12032 h 1936666"/>
              <a:gd name="connsiteX2" fmla="*/ 2961798 w 4020577"/>
              <a:gd name="connsiteY2" fmla="*/ 1936666 h 1936666"/>
              <a:gd name="connsiteX3" fmla="*/ 0 w 4020577"/>
              <a:gd name="connsiteY3" fmla="*/ 1936666 h 1936666"/>
              <a:gd name="connsiteX4" fmla="*/ 0 w 4020577"/>
              <a:gd name="connsiteY4" fmla="*/ 0 h 1936666"/>
              <a:gd name="connsiteX0" fmla="*/ 0 w 4020577"/>
              <a:gd name="connsiteY0" fmla="*/ 0 h 2634497"/>
              <a:gd name="connsiteX1" fmla="*/ 4020577 w 4020577"/>
              <a:gd name="connsiteY1" fmla="*/ 12032 h 2634497"/>
              <a:gd name="connsiteX2" fmla="*/ 2961798 w 4020577"/>
              <a:gd name="connsiteY2" fmla="*/ 1936666 h 2634497"/>
              <a:gd name="connsiteX3" fmla="*/ 0 w 4020577"/>
              <a:gd name="connsiteY3" fmla="*/ 2634497 h 2634497"/>
              <a:gd name="connsiteX4" fmla="*/ 0 w 4020577"/>
              <a:gd name="connsiteY4" fmla="*/ 0 h 2634497"/>
              <a:gd name="connsiteX0" fmla="*/ 0 w 4020577"/>
              <a:gd name="connsiteY0" fmla="*/ 12031 h 2646528"/>
              <a:gd name="connsiteX1" fmla="*/ 4020577 w 4020577"/>
              <a:gd name="connsiteY1" fmla="*/ 0 h 2646528"/>
              <a:gd name="connsiteX2" fmla="*/ 2961798 w 4020577"/>
              <a:gd name="connsiteY2" fmla="*/ 1948697 h 2646528"/>
              <a:gd name="connsiteX3" fmla="*/ 0 w 4020577"/>
              <a:gd name="connsiteY3" fmla="*/ 2646528 h 2646528"/>
              <a:gd name="connsiteX4" fmla="*/ 0 w 4020577"/>
              <a:gd name="connsiteY4" fmla="*/ 12031 h 2646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577" h="2646528">
                <a:moveTo>
                  <a:pt x="0" y="12031"/>
                </a:moveTo>
                <a:lnTo>
                  <a:pt x="4020577" y="0"/>
                </a:lnTo>
                <a:lnTo>
                  <a:pt x="2961798" y="1948697"/>
                </a:lnTo>
                <a:lnTo>
                  <a:pt x="0" y="2646528"/>
                </a:lnTo>
                <a:lnTo>
                  <a:pt x="0" y="120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7609" t="1851" b="-1"/>
          <a:stretch/>
        </p:blipFill>
        <p:spPr>
          <a:xfrm>
            <a:off x="10023656" y="40873"/>
            <a:ext cx="2022170" cy="1322261"/>
          </a:xfrm>
          <a:prstGeom prst="rect">
            <a:avLst/>
          </a:prstGeom>
        </p:spPr>
      </p:pic>
    </p:spTree>
    <p:extLst>
      <p:ext uri="{BB962C8B-B14F-4D97-AF65-F5344CB8AC3E}">
        <p14:creationId xmlns:p14="http://schemas.microsoft.com/office/powerpoint/2010/main" val="162582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lumMod val="75000"/>
                    <a:lumOff val="25000"/>
                  </a:schemeClr>
                </a:solidFill>
              </a:defRPr>
            </a:lvl1pPr>
          </a:lstStyle>
          <a:p>
            <a:r>
              <a:rPr lang="en-US" dirty="0"/>
              <a:t>Click to edit Master title style</a:t>
            </a:r>
            <a:endParaRPr lang="en-IE" dirty="0"/>
          </a:p>
        </p:txBody>
      </p:sp>
      <p:sp>
        <p:nvSpPr>
          <p:cNvPr id="3" name="Content Placeholder 2"/>
          <p:cNvSpPr>
            <a:spLocks noGrp="1"/>
          </p:cNvSpPr>
          <p:nvPr>
            <p:ph idx="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7609" t="1851" b="-1"/>
          <a:stretch/>
        </p:blipFill>
        <p:spPr>
          <a:xfrm>
            <a:off x="111034" y="76945"/>
            <a:ext cx="1454331" cy="950961"/>
          </a:xfrm>
          <a:prstGeom prst="rect">
            <a:avLst/>
          </a:prstGeom>
        </p:spPr>
      </p:pic>
      <p:sp>
        <p:nvSpPr>
          <p:cNvPr id="8" name="Freeform 7"/>
          <p:cNvSpPr/>
          <p:nvPr userDrawn="1"/>
        </p:nvSpPr>
        <p:spPr>
          <a:xfrm>
            <a:off x="0" y="5614737"/>
            <a:ext cx="12208042" cy="1264932"/>
          </a:xfrm>
          <a:custGeom>
            <a:avLst/>
            <a:gdLst>
              <a:gd name="connsiteX0" fmla="*/ 0 w 12272211"/>
              <a:gd name="connsiteY0" fmla="*/ 3031958 h 3031958"/>
              <a:gd name="connsiteX1" fmla="*/ 0 w 12272211"/>
              <a:gd name="connsiteY1" fmla="*/ 721895 h 3031958"/>
              <a:gd name="connsiteX2" fmla="*/ 2967789 w 12272211"/>
              <a:gd name="connsiteY2" fmla="*/ 2294021 h 3031958"/>
              <a:gd name="connsiteX3" fmla="*/ 12208042 w 12272211"/>
              <a:gd name="connsiteY3" fmla="*/ 0 h 3031958"/>
              <a:gd name="connsiteX4" fmla="*/ 12272211 w 12272211"/>
              <a:gd name="connsiteY4" fmla="*/ 3031958 h 3031958"/>
              <a:gd name="connsiteX5" fmla="*/ 0 w 12272211"/>
              <a:gd name="connsiteY5" fmla="*/ 3031958 h 3031958"/>
              <a:gd name="connsiteX0" fmla="*/ 0 w 12208042"/>
              <a:gd name="connsiteY0" fmla="*/ 3031958 h 3045606"/>
              <a:gd name="connsiteX1" fmla="*/ 0 w 12208042"/>
              <a:gd name="connsiteY1" fmla="*/ 721895 h 3045606"/>
              <a:gd name="connsiteX2" fmla="*/ 2967789 w 12208042"/>
              <a:gd name="connsiteY2" fmla="*/ 2294021 h 3045606"/>
              <a:gd name="connsiteX3" fmla="*/ 12208042 w 12208042"/>
              <a:gd name="connsiteY3" fmla="*/ 0 h 3045606"/>
              <a:gd name="connsiteX4" fmla="*/ 12203972 w 12208042"/>
              <a:gd name="connsiteY4" fmla="*/ 3045606 h 3045606"/>
              <a:gd name="connsiteX5" fmla="*/ 0 w 12208042"/>
              <a:gd name="connsiteY5" fmla="*/ 3031958 h 3045606"/>
              <a:gd name="connsiteX0" fmla="*/ 0 w 12208042"/>
              <a:gd name="connsiteY0" fmla="*/ 3031958 h 3045606"/>
              <a:gd name="connsiteX1" fmla="*/ 0 w 12208042"/>
              <a:gd name="connsiteY1" fmla="*/ 2149643 h 3045606"/>
              <a:gd name="connsiteX2" fmla="*/ 2967789 w 12208042"/>
              <a:gd name="connsiteY2" fmla="*/ 2294021 h 3045606"/>
              <a:gd name="connsiteX3" fmla="*/ 12208042 w 12208042"/>
              <a:gd name="connsiteY3" fmla="*/ 0 h 3045606"/>
              <a:gd name="connsiteX4" fmla="*/ 12203972 w 12208042"/>
              <a:gd name="connsiteY4" fmla="*/ 3045606 h 3045606"/>
              <a:gd name="connsiteX5" fmla="*/ 0 w 12208042"/>
              <a:gd name="connsiteY5" fmla="*/ 3031958 h 3045606"/>
              <a:gd name="connsiteX0" fmla="*/ 0 w 12208042"/>
              <a:gd name="connsiteY0" fmla="*/ 3031958 h 3045606"/>
              <a:gd name="connsiteX1" fmla="*/ 0 w 12208042"/>
              <a:gd name="connsiteY1" fmla="*/ 2149643 h 3045606"/>
              <a:gd name="connsiteX2" fmla="*/ 2951747 w 12208042"/>
              <a:gd name="connsiteY2" fmla="*/ 2534653 h 3045606"/>
              <a:gd name="connsiteX3" fmla="*/ 12208042 w 12208042"/>
              <a:gd name="connsiteY3" fmla="*/ 0 h 3045606"/>
              <a:gd name="connsiteX4" fmla="*/ 12203972 w 12208042"/>
              <a:gd name="connsiteY4" fmla="*/ 3045606 h 3045606"/>
              <a:gd name="connsiteX5" fmla="*/ 0 w 12208042"/>
              <a:gd name="connsiteY5" fmla="*/ 3031958 h 3045606"/>
              <a:gd name="connsiteX0" fmla="*/ 0 w 12208042"/>
              <a:gd name="connsiteY0" fmla="*/ 1251284 h 1264932"/>
              <a:gd name="connsiteX1" fmla="*/ 0 w 12208042"/>
              <a:gd name="connsiteY1" fmla="*/ 368969 h 1264932"/>
              <a:gd name="connsiteX2" fmla="*/ 2951747 w 12208042"/>
              <a:gd name="connsiteY2" fmla="*/ 753979 h 1264932"/>
              <a:gd name="connsiteX3" fmla="*/ 12208042 w 12208042"/>
              <a:gd name="connsiteY3" fmla="*/ 0 h 1264932"/>
              <a:gd name="connsiteX4" fmla="*/ 12203972 w 12208042"/>
              <a:gd name="connsiteY4" fmla="*/ 1264932 h 1264932"/>
              <a:gd name="connsiteX5" fmla="*/ 0 w 12208042"/>
              <a:gd name="connsiteY5" fmla="*/ 1251284 h 1264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08042" h="1264932">
                <a:moveTo>
                  <a:pt x="0" y="1251284"/>
                </a:moveTo>
                <a:lnTo>
                  <a:pt x="0" y="368969"/>
                </a:lnTo>
                <a:lnTo>
                  <a:pt x="2951747" y="753979"/>
                </a:lnTo>
                <a:lnTo>
                  <a:pt x="12208042" y="0"/>
                </a:lnTo>
                <a:cubicBezTo>
                  <a:pt x="12206685" y="1015202"/>
                  <a:pt x="12205329" y="249730"/>
                  <a:pt x="12203972" y="1264932"/>
                </a:cubicBezTo>
                <a:lnTo>
                  <a:pt x="0" y="1251284"/>
                </a:lnTo>
                <a:close/>
              </a:path>
            </a:pathLst>
          </a:custGeom>
          <a:blipFill dpi="0" rotWithShape="1">
            <a:blip r:embed="rId3" cstate="print">
              <a:extLst>
                <a:ext uri="{28A0092B-C50C-407E-A947-70E740481C1C}">
                  <a14:useLocalDpi xmlns:a14="http://schemas.microsoft.com/office/drawing/2010/main" val="0"/>
                </a:ext>
              </a:extLst>
            </a:blip>
            <a:srcRect/>
            <a:stretch>
              <a:fillRect l="-85152" t="-217860" r="-804" b="-4057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1130699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1552427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3296904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376878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2717151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1581193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2024137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1451752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1517294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5E328139-D471-4192-9B76-CDA7198A1361}" type="slidenum">
              <a:rPr lang="en-IE" smtClean="0"/>
              <a:t>‹#›</a:t>
            </a:fld>
            <a:endParaRPr lang="en-IE"/>
          </a:p>
        </p:txBody>
      </p:sp>
    </p:spTree>
    <p:extLst>
      <p:ext uri="{BB962C8B-B14F-4D97-AF65-F5344CB8AC3E}">
        <p14:creationId xmlns:p14="http://schemas.microsoft.com/office/powerpoint/2010/main" val="3511890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0000"/>
            <a:lum/>
            <a:extLst>
              <a:ext uri="{BEBA8EAE-BF5A-486C-A8C5-ECC9F3942E4B}">
                <a14:imgProps xmlns:a14="http://schemas.microsoft.com/office/drawing/2010/main">
                  <a14:imgLayer r:embed="rId14">
                    <a14:imgEffect>
                      <a14:artisticCrisscrossEtching/>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28139-D471-4192-9B76-CDA7198A1361}" type="slidenum">
              <a:rPr lang="en-IE" smtClean="0"/>
              <a:t>‹#›</a:t>
            </a:fld>
            <a:endParaRPr lang="en-IE"/>
          </a:p>
        </p:txBody>
      </p:sp>
    </p:spTree>
    <p:extLst>
      <p:ext uri="{BB962C8B-B14F-4D97-AF65-F5344CB8AC3E}">
        <p14:creationId xmlns:p14="http://schemas.microsoft.com/office/powerpoint/2010/main" val="3181951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un.org/development/desa/pd/content/international-migrant-stoc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20https:/www.engineeringletters.com/issues_v28/issue_4/EL_28_4_06.pdf?" TargetMode="External"/><Relationship Id="rId2" Type="http://schemas.openxmlformats.org/officeDocument/2006/relationships/hyperlink" Target="https://documents1.worldbank.org/curated/en/099554304062330779/pdf/IDU05ba8d1e90ec2a046e50bdf10fbe727c45e00.pdf" TargetMode="External"/><Relationship Id="rId1" Type="http://schemas.openxmlformats.org/officeDocument/2006/relationships/slideLayout" Target="../slideLayouts/slideLayout6.xml"/><Relationship Id="rId5" Type="http://schemas.openxmlformats.org/officeDocument/2006/relationships/hyperlink" Target="https://www.sciencedirect.com/science/article/pii/S1877050923022020" TargetMode="External"/><Relationship Id="rId4" Type="http://schemas.openxmlformats.org/officeDocument/2006/relationships/hyperlink" Target="https://dergipark.org.tr/en/download/article-file/248750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BEBA8EAE-BF5A-486C-A8C5-ECC9F3942E4B}">
                <a14:imgProps xmlns:a14="http://schemas.microsoft.com/office/drawing/2010/main">
                  <a14:imgLayer r:embed="rId3">
                    <a14:imgEffect>
                      <a14:artisticCrisscrossEtching/>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EE9175-1D1F-1627-A9A5-F9902F172812}"/>
              </a:ext>
            </a:extLst>
          </p:cNvPr>
          <p:cNvSpPr txBox="1"/>
          <p:nvPr/>
        </p:nvSpPr>
        <p:spPr>
          <a:xfrm>
            <a:off x="636494" y="927411"/>
            <a:ext cx="11170024" cy="1421928"/>
          </a:xfrm>
          <a:prstGeom prst="rect">
            <a:avLst/>
          </a:prstGeom>
          <a:noFill/>
        </p:spPr>
        <p:txBody>
          <a:bodyPr wrap="square">
            <a:spAutoFit/>
          </a:bodyPr>
          <a:lstStyle/>
          <a:p>
            <a:pPr algn="ctr">
              <a:lnSpc>
                <a:spcPct val="90000"/>
              </a:lnSpc>
              <a:spcBef>
                <a:spcPct val="0"/>
              </a:spcBef>
              <a:spcAft>
                <a:spcPts val="750"/>
              </a:spcAft>
            </a:pPr>
            <a:r>
              <a:rPr lang="en-GB" sz="4800" dirty="0">
                <a:solidFill>
                  <a:schemeClr val="accent1">
                    <a:lumMod val="75000"/>
                  </a:schemeClr>
                </a:solidFill>
                <a:latin typeface="Times New Roman" panose="02020603050405020304" pitchFamily="18" charset="0"/>
                <a:ea typeface="+mj-ea"/>
                <a:cs typeface="Times New Roman" panose="02020603050405020304" pitchFamily="18" charset="0"/>
              </a:rPr>
              <a:t>Tracking Migration Trends with Machine Learning</a:t>
            </a:r>
            <a:endParaRPr lang="en-IE" sz="4800" dirty="0">
              <a:solidFill>
                <a:schemeClr val="accent1">
                  <a:lumMod val="75000"/>
                </a:schemeClr>
              </a:solidFill>
              <a:latin typeface="Times New Roman" panose="02020603050405020304" pitchFamily="18" charset="0"/>
              <a:ea typeface="+mj-ea"/>
              <a:cs typeface="Times New Roman" panose="02020603050405020304" pitchFamily="18" charset="0"/>
            </a:endParaRPr>
          </a:p>
        </p:txBody>
      </p:sp>
      <p:sp>
        <p:nvSpPr>
          <p:cNvPr id="6" name="TextBox 5">
            <a:extLst>
              <a:ext uri="{FF2B5EF4-FFF2-40B4-BE49-F238E27FC236}">
                <a16:creationId xmlns:a16="http://schemas.microsoft.com/office/drawing/2014/main" id="{9BE0490D-F1BE-3FC1-09DD-B81C0F70874F}"/>
              </a:ext>
            </a:extLst>
          </p:cNvPr>
          <p:cNvSpPr txBox="1"/>
          <p:nvPr/>
        </p:nvSpPr>
        <p:spPr>
          <a:xfrm>
            <a:off x="1528482" y="3805989"/>
            <a:ext cx="9386048" cy="923330"/>
          </a:xfrm>
          <a:prstGeom prst="rect">
            <a:avLst/>
          </a:prstGeom>
          <a:noFill/>
        </p:spPr>
        <p:txBody>
          <a:bodyPr wrap="square">
            <a:spAutoFit/>
          </a:bodyPr>
          <a:lstStyle/>
          <a:p>
            <a:pPr algn="just"/>
            <a:r>
              <a:rPr lang="en-GB" dirty="0">
                <a:latin typeface="Times New Roman" panose="02020603050405020304" pitchFamily="18" charset="0"/>
                <a:cs typeface="Times New Roman" panose="02020603050405020304" pitchFamily="18" charset="0"/>
              </a:rPr>
              <a:t>This project explores global migration patterns using the UN's International Migrant Stock dataset. By applying machine learning, we aim to analyze and predict global migration patterns using historical data on international migrant stock from 1990 to 2024.</a:t>
            </a:r>
            <a:endParaRPr lang="en-I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829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BEBA8EAE-BF5A-486C-A8C5-ECC9F3942E4B}">
                <a14:imgProps xmlns:a14="http://schemas.microsoft.com/office/drawing/2010/main">
                  <a14:imgLayer r:embed="rId3">
                    <a14:imgEffect>
                      <a14:artisticCrisscrossEtching/>
                    </a14:imgEffect>
                  </a14:imgLayer>
                </a14:imgProps>
              </a:ext>
            </a:extLst>
          </a:blip>
          <a:srcRect/>
          <a:tile tx="0" ty="0" sx="100000" sy="100000" flip="none" algn="tl"/>
        </a:blipFill>
        <a:effectLst/>
      </p:bgPr>
    </p:bg>
    <p:spTree>
      <p:nvGrpSpPr>
        <p:cNvPr id="1" name="">
          <a:extLst>
            <a:ext uri="{FF2B5EF4-FFF2-40B4-BE49-F238E27FC236}">
              <a16:creationId xmlns:a16="http://schemas.microsoft.com/office/drawing/2014/main" id="{97DE64B1-5C0B-15F5-4430-3B80E38133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C6D522-BF39-B9C8-50F3-E5116C06DE40}"/>
              </a:ext>
            </a:extLst>
          </p:cNvPr>
          <p:cNvSpPr txBox="1"/>
          <p:nvPr/>
        </p:nvSpPr>
        <p:spPr>
          <a:xfrm>
            <a:off x="636494" y="927411"/>
            <a:ext cx="11170024" cy="646331"/>
          </a:xfrm>
          <a:prstGeom prst="rect">
            <a:avLst/>
          </a:prstGeom>
          <a:noFill/>
        </p:spPr>
        <p:txBody>
          <a:bodyPr wrap="square">
            <a:spAutoFit/>
          </a:bodyPr>
          <a:lstStyle/>
          <a:p>
            <a:pPr algn="ctr">
              <a:lnSpc>
                <a:spcPct val="90000"/>
              </a:lnSpc>
              <a:spcBef>
                <a:spcPct val="0"/>
              </a:spcBef>
              <a:spcAft>
                <a:spcPts val="750"/>
              </a:spcAft>
            </a:pPr>
            <a:r>
              <a:rPr lang="en-IE" sz="4000" dirty="0">
                <a:solidFill>
                  <a:schemeClr val="accent1">
                    <a:lumMod val="75000"/>
                  </a:schemeClr>
                </a:solidFill>
                <a:latin typeface="Times New Roman" panose="02020603050405020304" pitchFamily="18" charset="0"/>
                <a:ea typeface="+mj-ea"/>
                <a:cs typeface="Times New Roman" panose="02020603050405020304" pitchFamily="18" charset="0"/>
              </a:rPr>
              <a:t>Dataset</a:t>
            </a:r>
          </a:p>
        </p:txBody>
      </p:sp>
      <p:sp>
        <p:nvSpPr>
          <p:cNvPr id="7" name="Rectangle: Rounded Corners 6">
            <a:extLst>
              <a:ext uri="{FF2B5EF4-FFF2-40B4-BE49-F238E27FC236}">
                <a16:creationId xmlns:a16="http://schemas.microsoft.com/office/drawing/2014/main" id="{104A0043-26C5-470B-AFBD-C0D448678A33}"/>
              </a:ext>
            </a:extLst>
          </p:cNvPr>
          <p:cNvSpPr/>
          <p:nvPr/>
        </p:nvSpPr>
        <p:spPr>
          <a:xfrm>
            <a:off x="2088776" y="3083859"/>
            <a:ext cx="8184776" cy="2079812"/>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dirty="0">
                <a:latin typeface="Times New Roman" panose="02020603050405020304" pitchFamily="18" charset="0"/>
                <a:cs typeface="Times New Roman" panose="02020603050405020304" pitchFamily="18" charset="0"/>
              </a:rPr>
              <a:t>Source: </a:t>
            </a:r>
            <a:r>
              <a:rPr lang="en-IE" b="0" i="0" dirty="0">
                <a:effectLst/>
                <a:latin typeface="Times New Roman" panose="02020603050405020304" pitchFamily="18" charset="0"/>
                <a:cs typeface="Times New Roman" panose="02020603050405020304" pitchFamily="18" charset="0"/>
              </a:rPr>
              <a:t>United Nations | Department of Economic and Social Affairs</a:t>
            </a:r>
          </a:p>
          <a:p>
            <a:pPr algn="just"/>
            <a:r>
              <a:rPr lang="en-IE" dirty="0">
                <a:latin typeface="Times New Roman" panose="02020603050405020304" pitchFamily="18" charset="0"/>
                <a:cs typeface="Times New Roman" panose="02020603050405020304" pitchFamily="18" charset="0"/>
              </a:rPr>
              <a:t>Dataset: </a:t>
            </a:r>
            <a:r>
              <a:rPr lang="en-IE" dirty="0"/>
              <a:t>International Migrant Stock</a:t>
            </a:r>
          </a:p>
          <a:p>
            <a:pPr algn="just"/>
            <a:r>
              <a:rPr lang="en-IE" dirty="0">
                <a:latin typeface="Times New Roman" panose="02020603050405020304" pitchFamily="18" charset="0"/>
                <a:cs typeface="Times New Roman" panose="02020603050405020304" pitchFamily="18" charset="0"/>
              </a:rPr>
              <a:t>Link: </a:t>
            </a:r>
            <a:r>
              <a:rPr lang="en-IE"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https://www.un.org/development/desa/pd/content/international-migrant-stock</a:t>
            </a:r>
            <a:endParaRPr lang="en-I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2490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210CE-1676-96F0-3A4D-856EBEE2A72E}"/>
              </a:ext>
            </a:extLst>
          </p:cNvPr>
          <p:cNvSpPr>
            <a:spLocks noGrp="1"/>
          </p:cNvSpPr>
          <p:nvPr>
            <p:ph type="title"/>
          </p:nvPr>
        </p:nvSpPr>
        <p:spPr>
          <a:xfrm>
            <a:off x="1448561" y="445704"/>
            <a:ext cx="9294877" cy="856082"/>
          </a:xfrm>
        </p:spPr>
        <p:txBody>
          <a:bodyPr>
            <a:normAutofit/>
          </a:bodyPr>
          <a:lstStyle/>
          <a:p>
            <a:pPr algn="ctr"/>
            <a:r>
              <a:rPr lang="en-IE" sz="4000" dirty="0">
                <a:solidFill>
                  <a:schemeClr val="accent1">
                    <a:lumMod val="75000"/>
                  </a:schemeClr>
                </a:solidFill>
                <a:latin typeface="Times New Roman" panose="02020603050405020304" pitchFamily="18" charset="0"/>
                <a:cs typeface="Times New Roman" panose="02020603050405020304" pitchFamily="18" charset="0"/>
              </a:rPr>
              <a:t>Research Questions</a:t>
            </a:r>
            <a:endParaRPr lang="en-IE" sz="4000" dirty="0">
              <a:solidFill>
                <a:schemeClr val="accent1">
                  <a:lumMod val="75000"/>
                </a:schemeClr>
              </a:solidFill>
            </a:endParaRPr>
          </a:p>
        </p:txBody>
      </p:sp>
      <p:sp>
        <p:nvSpPr>
          <p:cNvPr id="19" name="Arrow: Chevron 18">
            <a:extLst>
              <a:ext uri="{FF2B5EF4-FFF2-40B4-BE49-F238E27FC236}">
                <a16:creationId xmlns:a16="http://schemas.microsoft.com/office/drawing/2014/main" id="{FE1B4757-820C-A593-7328-E987E3032F11}"/>
              </a:ext>
            </a:extLst>
          </p:cNvPr>
          <p:cNvSpPr/>
          <p:nvPr/>
        </p:nvSpPr>
        <p:spPr>
          <a:xfrm>
            <a:off x="1600199" y="2393577"/>
            <a:ext cx="8991600" cy="7261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b="0" i="0" dirty="0">
              <a:effectLst/>
              <a:latin typeface="Times New Roman" panose="02020603050405020304" pitchFamily="18" charset="0"/>
              <a:cs typeface="Times New Roman" panose="02020603050405020304" pitchFamily="18" charset="0"/>
            </a:endParaRPr>
          </a:p>
          <a:p>
            <a:pPr algn="ctr"/>
            <a:r>
              <a:rPr lang="en-GB" sz="1800" b="0" i="0" dirty="0">
                <a:effectLst/>
                <a:latin typeface="Times New Roman" panose="02020603050405020304" pitchFamily="18" charset="0"/>
                <a:cs typeface="Times New Roman" panose="02020603050405020304" pitchFamily="18" charset="0"/>
              </a:rPr>
              <a:t>Which countries are the ones that receive the largest number of migrants per year?</a:t>
            </a:r>
          </a:p>
          <a:p>
            <a:pPr algn="ctr"/>
            <a:endParaRPr lang="en-IE" dirty="0">
              <a:solidFill>
                <a:schemeClr val="tx1"/>
              </a:solidFill>
            </a:endParaRPr>
          </a:p>
        </p:txBody>
      </p:sp>
      <p:sp>
        <p:nvSpPr>
          <p:cNvPr id="20" name="Arrow: Chevron 19">
            <a:extLst>
              <a:ext uri="{FF2B5EF4-FFF2-40B4-BE49-F238E27FC236}">
                <a16:creationId xmlns:a16="http://schemas.microsoft.com/office/drawing/2014/main" id="{831ABC01-5324-3FB5-A7B2-06C3D35E636A}"/>
              </a:ext>
            </a:extLst>
          </p:cNvPr>
          <p:cNvSpPr/>
          <p:nvPr/>
        </p:nvSpPr>
        <p:spPr>
          <a:xfrm>
            <a:off x="1600199" y="3485368"/>
            <a:ext cx="8991600" cy="726141"/>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800" b="0" i="0" dirty="0">
                <a:effectLst/>
                <a:latin typeface="Times New Roman" panose="02020603050405020304" pitchFamily="18" charset="0"/>
                <a:cs typeface="Times New Roman" panose="02020603050405020304" pitchFamily="18" charset="0"/>
              </a:rPr>
              <a:t>Are there more male or female migrants internationally? Has this changed with time?</a:t>
            </a:r>
            <a:endParaRPr lang="en-IE"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2915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2FFE3-AFA3-3290-3CE5-8838015E5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16A5B-DB99-79CD-3376-6DEC41B3CFA6}"/>
              </a:ext>
            </a:extLst>
          </p:cNvPr>
          <p:cNvSpPr>
            <a:spLocks noGrp="1"/>
          </p:cNvSpPr>
          <p:nvPr>
            <p:ph type="title"/>
          </p:nvPr>
        </p:nvSpPr>
        <p:spPr>
          <a:xfrm>
            <a:off x="838655" y="743871"/>
            <a:ext cx="10515600" cy="1032542"/>
          </a:xfrm>
        </p:spPr>
        <p:txBody>
          <a:bodyPr>
            <a:normAutofit/>
          </a:bodyPr>
          <a:lstStyle/>
          <a:p>
            <a:pPr algn="ctr"/>
            <a:r>
              <a:rPr lang="en-IE" sz="4000" dirty="0">
                <a:solidFill>
                  <a:schemeClr val="accent1">
                    <a:lumMod val="75000"/>
                  </a:schemeClr>
                </a:solidFill>
                <a:latin typeface="Times New Roman" panose="02020603050405020304" pitchFamily="18" charset="0"/>
                <a:cs typeface="Times New Roman" panose="02020603050405020304" pitchFamily="18" charset="0"/>
              </a:rPr>
              <a:t>Research Objectives</a:t>
            </a:r>
            <a:endParaRPr lang="en-IE" sz="4000" dirty="0">
              <a:solidFill>
                <a:schemeClr val="accent1">
                  <a:lumMod val="75000"/>
                </a:schemeClr>
              </a:solidFill>
            </a:endParaRPr>
          </a:p>
        </p:txBody>
      </p:sp>
      <p:sp>
        <p:nvSpPr>
          <p:cNvPr id="9" name="Content Placeholder 2">
            <a:extLst>
              <a:ext uri="{FF2B5EF4-FFF2-40B4-BE49-F238E27FC236}">
                <a16:creationId xmlns:a16="http://schemas.microsoft.com/office/drawing/2014/main" id="{5760786A-8983-595D-9FFE-2F0E00795625}"/>
              </a:ext>
            </a:extLst>
          </p:cNvPr>
          <p:cNvSpPr txBox="1">
            <a:spLocks/>
          </p:cNvSpPr>
          <p:nvPr/>
        </p:nvSpPr>
        <p:spPr>
          <a:xfrm>
            <a:off x="838200" y="18256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endParaRPr lang="en-GB" sz="1800" dirty="0">
              <a:latin typeface="Times New Roman" panose="02020603050405020304" pitchFamily="18" charset="0"/>
              <a:cs typeface="Times New Roman" panose="02020603050405020304" pitchFamily="18" charset="0"/>
            </a:endParaRPr>
          </a:p>
        </p:txBody>
      </p:sp>
      <p:sp>
        <p:nvSpPr>
          <p:cNvPr id="4" name="Arrow: Pentagon 3">
            <a:extLst>
              <a:ext uri="{FF2B5EF4-FFF2-40B4-BE49-F238E27FC236}">
                <a16:creationId xmlns:a16="http://schemas.microsoft.com/office/drawing/2014/main" id="{AD888D78-2DAB-E4AB-C429-31309EB9F36D}"/>
              </a:ext>
            </a:extLst>
          </p:cNvPr>
          <p:cNvSpPr/>
          <p:nvPr/>
        </p:nvSpPr>
        <p:spPr>
          <a:xfrm>
            <a:off x="999564" y="2151320"/>
            <a:ext cx="10192871" cy="57374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800" dirty="0">
              <a:latin typeface="Times New Roman" panose="02020603050405020304" pitchFamily="18" charset="0"/>
              <a:cs typeface="Times New Roman" panose="02020603050405020304" pitchFamily="18" charset="0"/>
            </a:endParaRPr>
          </a:p>
          <a:p>
            <a:pPr algn="ctr"/>
            <a:r>
              <a:rPr lang="en-GB" sz="1800" dirty="0">
                <a:latin typeface="Times New Roman" panose="02020603050405020304" pitchFamily="18" charset="0"/>
                <a:cs typeface="Times New Roman" panose="02020603050405020304" pitchFamily="18" charset="0"/>
              </a:rPr>
              <a:t>To identify the top destination countries that receive the highest number of international migrants each year between 1990 and 2024.</a:t>
            </a:r>
          </a:p>
          <a:p>
            <a:pPr algn="ctr"/>
            <a:endParaRPr lang="en-IE" dirty="0"/>
          </a:p>
        </p:txBody>
      </p:sp>
      <p:sp>
        <p:nvSpPr>
          <p:cNvPr id="10" name="Arrow: Pentagon 9">
            <a:extLst>
              <a:ext uri="{FF2B5EF4-FFF2-40B4-BE49-F238E27FC236}">
                <a16:creationId xmlns:a16="http://schemas.microsoft.com/office/drawing/2014/main" id="{26EBF57F-17C9-8D01-5619-5D769DECCA88}"/>
              </a:ext>
            </a:extLst>
          </p:cNvPr>
          <p:cNvSpPr/>
          <p:nvPr/>
        </p:nvSpPr>
        <p:spPr>
          <a:xfrm>
            <a:off x="999563" y="3050756"/>
            <a:ext cx="10192871" cy="57374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800" dirty="0">
                <a:latin typeface="Times New Roman" panose="02020603050405020304" pitchFamily="18" charset="0"/>
                <a:cs typeface="Times New Roman" panose="02020603050405020304" pitchFamily="18" charset="0"/>
              </a:rPr>
              <a:t>To determine the top origin countries from which the highest number of migrants originate each year during the same period. </a:t>
            </a:r>
          </a:p>
        </p:txBody>
      </p:sp>
      <p:sp>
        <p:nvSpPr>
          <p:cNvPr id="11" name="Arrow: Pentagon 10">
            <a:extLst>
              <a:ext uri="{FF2B5EF4-FFF2-40B4-BE49-F238E27FC236}">
                <a16:creationId xmlns:a16="http://schemas.microsoft.com/office/drawing/2014/main" id="{13802C51-E8D6-42F7-4C73-19707E20D5FD}"/>
              </a:ext>
            </a:extLst>
          </p:cNvPr>
          <p:cNvSpPr/>
          <p:nvPr/>
        </p:nvSpPr>
        <p:spPr>
          <a:xfrm>
            <a:off x="999562" y="4040118"/>
            <a:ext cx="10192871" cy="573741"/>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800" dirty="0">
                <a:latin typeface="Times New Roman" panose="02020603050405020304" pitchFamily="18" charset="0"/>
                <a:cs typeface="Times New Roman" panose="02020603050405020304" pitchFamily="18" charset="0"/>
              </a:rPr>
              <a:t>To analyze the gender distribution of international migrants globally, identifying whether males or females dominate the migrant population.</a:t>
            </a:r>
          </a:p>
        </p:txBody>
      </p:sp>
    </p:spTree>
    <p:extLst>
      <p:ext uri="{BB962C8B-B14F-4D97-AF65-F5344CB8AC3E}">
        <p14:creationId xmlns:p14="http://schemas.microsoft.com/office/powerpoint/2010/main" val="3673613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B8A02-E477-44C2-F25D-39E5418AA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DCFDD7-9E1B-2AC2-F4F7-64E7531D39DC}"/>
              </a:ext>
            </a:extLst>
          </p:cNvPr>
          <p:cNvSpPr>
            <a:spLocks noGrp="1"/>
          </p:cNvSpPr>
          <p:nvPr>
            <p:ph type="title"/>
          </p:nvPr>
        </p:nvSpPr>
        <p:spPr>
          <a:xfrm>
            <a:off x="838655" y="743871"/>
            <a:ext cx="10515600" cy="1032542"/>
          </a:xfrm>
        </p:spPr>
        <p:txBody>
          <a:bodyPr>
            <a:normAutofit/>
          </a:bodyPr>
          <a:lstStyle/>
          <a:p>
            <a:pPr algn="ctr"/>
            <a:r>
              <a:rPr lang="en-IE" sz="4000"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9" name="Content Placeholder 2">
            <a:extLst>
              <a:ext uri="{FF2B5EF4-FFF2-40B4-BE49-F238E27FC236}">
                <a16:creationId xmlns:a16="http://schemas.microsoft.com/office/drawing/2014/main" id="{ADAB57FC-760F-DF2F-D127-76AE477DBA6A}"/>
              </a:ext>
            </a:extLst>
          </p:cNvPr>
          <p:cNvSpPr txBox="1">
            <a:spLocks/>
          </p:cNvSpPr>
          <p:nvPr/>
        </p:nvSpPr>
        <p:spPr>
          <a:xfrm>
            <a:off x="838200" y="1816660"/>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GB" sz="1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A820C8B8-0CBD-FB9C-BAE4-FB3B51B97EBD}"/>
              </a:ext>
            </a:extLst>
          </p:cNvPr>
          <p:cNvGraphicFramePr>
            <a:graphicFrameLocks noGrp="1"/>
          </p:cNvGraphicFramePr>
          <p:nvPr>
            <p:extLst>
              <p:ext uri="{D42A27DB-BD31-4B8C-83A1-F6EECF244321}">
                <p14:modId xmlns:p14="http://schemas.microsoft.com/office/powerpoint/2010/main" val="3650331707"/>
              </p:ext>
            </p:extLst>
          </p:nvPr>
        </p:nvGraphicFramePr>
        <p:xfrm>
          <a:off x="837745" y="1687359"/>
          <a:ext cx="10923949" cy="4812052"/>
        </p:xfrm>
        <a:graphic>
          <a:graphicData uri="http://schemas.openxmlformats.org/drawingml/2006/table">
            <a:tbl>
              <a:tblPr firstRow="1" bandRow="1">
                <a:tableStyleId>{7DF18680-E054-41AD-8BC1-D1AEF772440D}</a:tableStyleId>
              </a:tblPr>
              <a:tblGrid>
                <a:gridCol w="2380584">
                  <a:extLst>
                    <a:ext uri="{9D8B030D-6E8A-4147-A177-3AD203B41FA5}">
                      <a16:colId xmlns:a16="http://schemas.microsoft.com/office/drawing/2014/main" val="552513154"/>
                    </a:ext>
                  </a:extLst>
                </a:gridCol>
                <a:gridCol w="4052047">
                  <a:extLst>
                    <a:ext uri="{9D8B030D-6E8A-4147-A177-3AD203B41FA5}">
                      <a16:colId xmlns:a16="http://schemas.microsoft.com/office/drawing/2014/main" val="3994454906"/>
                    </a:ext>
                  </a:extLst>
                </a:gridCol>
                <a:gridCol w="4491318">
                  <a:extLst>
                    <a:ext uri="{9D8B030D-6E8A-4147-A177-3AD203B41FA5}">
                      <a16:colId xmlns:a16="http://schemas.microsoft.com/office/drawing/2014/main" val="1769629076"/>
                    </a:ext>
                  </a:extLst>
                </a:gridCol>
              </a:tblGrid>
              <a:tr h="382397">
                <a:tc>
                  <a:txBody>
                    <a:bodyPr/>
                    <a:lstStyle/>
                    <a:p>
                      <a:pPr algn="ctr" fontAlgn="ctr"/>
                      <a:r>
                        <a:rPr lang="en-IE" sz="2000" u="none" strike="noStrike" dirty="0">
                          <a:solidFill>
                            <a:schemeClr val="tx1"/>
                          </a:solidFill>
                          <a:effectLst/>
                        </a:rPr>
                        <a:t>Topic</a:t>
                      </a:r>
                      <a:endParaRPr lang="en-IE" sz="2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ctr"/>
                      <a:r>
                        <a:rPr lang="en-IE" sz="2000" u="none" strike="noStrike" dirty="0">
                          <a:solidFill>
                            <a:schemeClr val="tx1"/>
                          </a:solidFill>
                          <a:effectLst/>
                        </a:rPr>
                        <a:t>Overview</a:t>
                      </a:r>
                      <a:endParaRPr lang="en-IE" sz="2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ctr"/>
                      <a:r>
                        <a:rPr lang="en-IE" sz="2000" u="none" strike="noStrike" dirty="0">
                          <a:solidFill>
                            <a:schemeClr val="tx1"/>
                          </a:solidFill>
                          <a:effectLst/>
                        </a:rPr>
                        <a:t>Reference</a:t>
                      </a:r>
                      <a:endParaRPr lang="en-IE" sz="2000" b="0" i="0" u="none" strike="noStrike" dirty="0">
                        <a:solidFill>
                          <a:schemeClr val="tx1"/>
                        </a:solidFill>
                        <a:effectLst/>
                        <a:latin typeface="Calibri" panose="020F0502020204030204" pitchFamily="34" charset="0"/>
                      </a:endParaRPr>
                    </a:p>
                  </a:txBody>
                  <a:tcPr marL="7145" marR="7145" marT="7145" marB="0" anchor="ctr"/>
                </a:tc>
                <a:extLst>
                  <a:ext uri="{0D108BD9-81ED-4DB2-BD59-A6C34878D82A}">
                    <a16:rowId xmlns:a16="http://schemas.microsoft.com/office/drawing/2014/main" val="876836353"/>
                  </a:ext>
                </a:extLst>
              </a:tr>
              <a:tr h="1264563">
                <a:tc>
                  <a:txBody>
                    <a:bodyPr/>
                    <a:lstStyle/>
                    <a:p>
                      <a:pPr algn="ctr" fontAlgn="b"/>
                      <a:r>
                        <a:rPr lang="en-IE" sz="1000" u="none" strike="noStrike" dirty="0">
                          <a:solidFill>
                            <a:schemeClr val="tx1"/>
                          </a:solidFill>
                          <a:effectLst/>
                        </a:rPr>
                        <a:t>Random Forest Classifier</a:t>
                      </a:r>
                      <a:endParaRPr lang="en-IE"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Used to classify countries and rank important features influencing migration patterns. It is reliable, interpretable, and handles complex datasets well.</a:t>
                      </a:r>
                      <a:endParaRPr lang="en-GB"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[1] D. Halim and S. Seetahul, "Why Do People Move? A Data-Driven Approach to Identifying Gender-Specific Migration Drivers," World Bank, 2023. </a:t>
                      </a:r>
                      <a:br>
                        <a:rPr lang="en-GB" sz="1000" u="none" strike="noStrike" dirty="0">
                          <a:solidFill>
                            <a:schemeClr val="tx1"/>
                          </a:solidFill>
                          <a:effectLst/>
                        </a:rPr>
                      </a:br>
                      <a:r>
                        <a:rPr lang="en-GB" sz="1000" u="none" strike="noStrike" dirty="0">
                          <a:solidFill>
                            <a:schemeClr val="tx1"/>
                          </a:solidFill>
                          <a:effectLst/>
                        </a:rPr>
                        <a:t>Available: </a:t>
                      </a:r>
                      <a:r>
                        <a:rPr lang="en-GB" sz="1000" u="none" strike="noStrike" kern="1200" dirty="0">
                          <a:solidFill>
                            <a:schemeClr val="tx1"/>
                          </a:solidFill>
                          <a:effectLst/>
                          <a:latin typeface="+mn-lt"/>
                          <a:ea typeface="+mn-ea"/>
                          <a:cs typeface="+mn-cs"/>
                          <a:hlinkClick r:id="rId2"/>
                        </a:rPr>
                        <a:t>https://documents1.worldbank.org/curated/en/099554304062330779/pdf/IDU05ba8d1e90ec2a046e50bdf10fbe727c45e00.pdf</a:t>
                      </a:r>
                      <a:endParaRPr lang="en-GB" sz="1000" u="none" strike="noStrike" kern="1200" dirty="0">
                        <a:solidFill>
                          <a:schemeClr val="tx1"/>
                        </a:solidFill>
                        <a:effectLst/>
                        <a:latin typeface="+mn-lt"/>
                        <a:ea typeface="+mn-ea"/>
                        <a:cs typeface="+mn-cs"/>
                      </a:endParaRPr>
                    </a:p>
                  </a:txBody>
                  <a:tcPr marL="7145" marR="7145" marT="7145" marB="0" anchor="ctr"/>
                </a:tc>
                <a:extLst>
                  <a:ext uri="{0D108BD9-81ED-4DB2-BD59-A6C34878D82A}">
                    <a16:rowId xmlns:a16="http://schemas.microsoft.com/office/drawing/2014/main" val="194989527"/>
                  </a:ext>
                </a:extLst>
              </a:tr>
              <a:tr h="1107414">
                <a:tc>
                  <a:txBody>
                    <a:bodyPr/>
                    <a:lstStyle/>
                    <a:p>
                      <a:pPr algn="ctr" fontAlgn="b"/>
                      <a:r>
                        <a:rPr lang="en-IE" sz="1000" u="none" strike="noStrike" dirty="0">
                          <a:solidFill>
                            <a:schemeClr val="tx1"/>
                          </a:solidFill>
                          <a:effectLst/>
                        </a:rPr>
                        <a:t>Support Vector Machine (SVM)</a:t>
                      </a:r>
                      <a:endParaRPr lang="en-IE"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SVM is proposed to classify binary outcomes like gender dominance in migration data. It's useful for separating two classes clearly.</a:t>
                      </a:r>
                      <a:endParaRPr lang="en-GB"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IE" sz="1000" u="none" strike="noStrike" dirty="0">
                          <a:solidFill>
                            <a:schemeClr val="tx1"/>
                          </a:solidFill>
                          <a:effectLst/>
                        </a:rPr>
                        <a:t>[2] Lan Zhang, Lina Luo, Lei Hu and </a:t>
                      </a:r>
                      <a:r>
                        <a:rPr lang="en-IE" sz="1000" u="none" strike="noStrike" dirty="0" err="1">
                          <a:solidFill>
                            <a:schemeClr val="tx1"/>
                          </a:solidFill>
                          <a:effectLst/>
                        </a:rPr>
                        <a:t>Maohua</a:t>
                      </a:r>
                      <a:r>
                        <a:rPr lang="en-IE" sz="1000" u="none" strike="noStrike" dirty="0">
                          <a:solidFill>
                            <a:schemeClr val="tx1"/>
                          </a:solidFill>
                          <a:effectLst/>
                        </a:rPr>
                        <a:t> Sun, "An SVM-Based Classification Model for Migration Prediction of </a:t>
                      </a:r>
                      <a:r>
                        <a:rPr lang="en-IE" sz="1000" u="none" strike="noStrike" dirty="0" err="1">
                          <a:solidFill>
                            <a:schemeClr val="tx1"/>
                          </a:solidFill>
                          <a:effectLst/>
                        </a:rPr>
                        <a:t>Beijing,"Engineering</a:t>
                      </a:r>
                      <a:r>
                        <a:rPr lang="en-IE" sz="1000" u="none" strike="noStrike" dirty="0">
                          <a:solidFill>
                            <a:schemeClr val="tx1"/>
                          </a:solidFill>
                          <a:effectLst/>
                        </a:rPr>
                        <a:t> Letters,2020. </a:t>
                      </a:r>
                      <a:br>
                        <a:rPr lang="en-IE" sz="1000" u="none" strike="noStrike" dirty="0">
                          <a:solidFill>
                            <a:schemeClr val="tx1"/>
                          </a:solidFill>
                          <a:effectLst/>
                        </a:rPr>
                      </a:br>
                      <a:r>
                        <a:rPr lang="en-IE" sz="1000" u="none" strike="noStrike" dirty="0">
                          <a:solidFill>
                            <a:schemeClr val="tx1"/>
                          </a:solidFill>
                          <a:effectLst/>
                        </a:rPr>
                        <a:t>Available</a:t>
                      </a:r>
                      <a:r>
                        <a:rPr lang="en-IE" sz="1000" u="none" strike="noStrike" dirty="0">
                          <a:solidFill>
                            <a:schemeClr val="tx1"/>
                          </a:solidFill>
                          <a:effectLst/>
                          <a:hlinkClick r:id="rId3" action="ppaction://hlinkfile"/>
                        </a:rPr>
                        <a:t>: https://www.engineeringletters.com/issues_v28/issue_4/EL_28_4_06.pdf?</a:t>
                      </a:r>
                      <a:endParaRPr lang="en-IE" sz="1000" b="0" i="0" u="none" strike="noStrike" dirty="0">
                        <a:solidFill>
                          <a:schemeClr val="tx1"/>
                        </a:solidFill>
                        <a:effectLst/>
                        <a:latin typeface="Calibri" panose="020F0502020204030204" pitchFamily="34" charset="0"/>
                      </a:endParaRPr>
                    </a:p>
                  </a:txBody>
                  <a:tcPr marL="7145" marR="7145" marT="7145" marB="0" anchor="ctr"/>
                </a:tc>
                <a:extLst>
                  <a:ext uri="{0D108BD9-81ED-4DB2-BD59-A6C34878D82A}">
                    <a16:rowId xmlns:a16="http://schemas.microsoft.com/office/drawing/2014/main" val="1694453169"/>
                  </a:ext>
                </a:extLst>
              </a:tr>
              <a:tr h="1107414">
                <a:tc>
                  <a:txBody>
                    <a:bodyPr/>
                    <a:lstStyle/>
                    <a:p>
                      <a:pPr algn="ctr" fontAlgn="b"/>
                      <a:r>
                        <a:rPr lang="en-IE" sz="1000" u="none" strike="noStrike" dirty="0">
                          <a:solidFill>
                            <a:schemeClr val="tx1"/>
                          </a:solidFill>
                          <a:effectLst/>
                        </a:rPr>
                        <a:t>XGBoost Classifier</a:t>
                      </a:r>
                      <a:endParaRPr lang="en-IE"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XGBoost is used to improve prediction accuracy when classifying countries by migration role. It's efficient with large datasets.</a:t>
                      </a:r>
                      <a:endParaRPr lang="en-GB"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[3] B. AYDEMİR, H. AYDIN, A. ÇETİNKAYA and </a:t>
                      </a:r>
                      <a:r>
                        <a:rPr lang="en-GB" sz="1000" u="none" strike="noStrike" dirty="0" err="1">
                          <a:solidFill>
                            <a:schemeClr val="tx1"/>
                          </a:solidFill>
                          <a:effectLst/>
                        </a:rPr>
                        <a:t>and</a:t>
                      </a:r>
                      <a:r>
                        <a:rPr lang="en-GB" sz="1000" u="none" strike="noStrike" dirty="0">
                          <a:solidFill>
                            <a:schemeClr val="tx1"/>
                          </a:solidFill>
                          <a:effectLst/>
                        </a:rPr>
                        <a:t> D.S. </a:t>
                      </a:r>
                      <a:r>
                        <a:rPr lang="en-GB" sz="1000" u="none" strike="noStrike" dirty="0" err="1">
                          <a:solidFill>
                            <a:schemeClr val="tx1"/>
                          </a:solidFill>
                          <a:effectLst/>
                        </a:rPr>
                        <a:t>POLAT,"Predicting</a:t>
                      </a:r>
                      <a:r>
                        <a:rPr lang="en-GB" sz="1000" u="none" strike="noStrike" dirty="0">
                          <a:solidFill>
                            <a:schemeClr val="tx1"/>
                          </a:solidFill>
                          <a:effectLst/>
                        </a:rPr>
                        <a:t> the Income Groups and Number of Immigrants by Using Machine Learning (ML),"IJMSIT,2022. </a:t>
                      </a:r>
                      <a:br>
                        <a:rPr lang="en-GB" sz="1000" u="none" strike="noStrike" dirty="0">
                          <a:solidFill>
                            <a:schemeClr val="tx1"/>
                          </a:solidFill>
                          <a:effectLst/>
                        </a:rPr>
                      </a:br>
                      <a:r>
                        <a:rPr lang="en-GB" sz="1000" u="none" strike="noStrike" dirty="0">
                          <a:solidFill>
                            <a:schemeClr val="tx1"/>
                          </a:solidFill>
                          <a:effectLst/>
                        </a:rPr>
                        <a:t>Available: </a:t>
                      </a:r>
                      <a:r>
                        <a:rPr lang="en-GB" sz="1000" u="none" strike="noStrike" dirty="0">
                          <a:solidFill>
                            <a:schemeClr val="tx1"/>
                          </a:solidFill>
                          <a:effectLst/>
                          <a:hlinkClick r:id="rId4"/>
                        </a:rPr>
                        <a:t>https://dergipark.org.tr/en/download/article-file/2487507</a:t>
                      </a:r>
                      <a:endParaRPr lang="en-GB" sz="1000" b="0" i="0" u="none" strike="noStrike" dirty="0">
                        <a:solidFill>
                          <a:schemeClr val="tx1"/>
                        </a:solidFill>
                        <a:effectLst/>
                        <a:latin typeface="Calibri" panose="020F0502020204030204" pitchFamily="34" charset="0"/>
                      </a:endParaRPr>
                    </a:p>
                  </a:txBody>
                  <a:tcPr marL="7145" marR="7145" marT="7145" marB="0" anchor="ctr"/>
                </a:tc>
                <a:extLst>
                  <a:ext uri="{0D108BD9-81ED-4DB2-BD59-A6C34878D82A}">
                    <a16:rowId xmlns:a16="http://schemas.microsoft.com/office/drawing/2014/main" val="4281624387"/>
                  </a:ext>
                </a:extLst>
              </a:tr>
              <a:tr h="950264">
                <a:tc>
                  <a:txBody>
                    <a:bodyPr/>
                    <a:lstStyle/>
                    <a:p>
                      <a:pPr algn="ctr" fontAlgn="b"/>
                      <a:r>
                        <a:rPr lang="en-IE" sz="1000" u="none" strike="noStrike" dirty="0">
                          <a:solidFill>
                            <a:schemeClr val="tx1"/>
                          </a:solidFill>
                          <a:effectLst/>
                        </a:rPr>
                        <a:t>Time Series Forecasting (ARIMA)</a:t>
                      </a:r>
                      <a:endParaRPr lang="en-IE"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For forecasting future migrant stock levels using historical time-based data.</a:t>
                      </a:r>
                      <a:endParaRPr lang="en-GB" sz="1000" b="0" i="0" u="none" strike="noStrike" dirty="0">
                        <a:solidFill>
                          <a:schemeClr val="tx1"/>
                        </a:solidFill>
                        <a:effectLst/>
                        <a:latin typeface="Calibri" panose="020F0502020204030204" pitchFamily="34" charset="0"/>
                      </a:endParaRPr>
                    </a:p>
                  </a:txBody>
                  <a:tcPr marL="7145" marR="7145" marT="7145" marB="0" anchor="ctr"/>
                </a:tc>
                <a:tc>
                  <a:txBody>
                    <a:bodyPr/>
                    <a:lstStyle/>
                    <a:p>
                      <a:pPr algn="ctr" fontAlgn="b"/>
                      <a:r>
                        <a:rPr lang="en-GB" sz="1000" u="none" strike="noStrike" dirty="0">
                          <a:solidFill>
                            <a:schemeClr val="tx1"/>
                          </a:solidFill>
                          <a:effectLst/>
                        </a:rPr>
                        <a:t>[4] F. </a:t>
                      </a:r>
                      <a:r>
                        <a:rPr lang="en-GB" sz="1000" u="none" strike="noStrike" dirty="0" err="1">
                          <a:solidFill>
                            <a:schemeClr val="tx1"/>
                          </a:solidFill>
                          <a:effectLst/>
                        </a:rPr>
                        <a:t>Tolesh</a:t>
                      </a:r>
                      <a:r>
                        <a:rPr lang="en-GB" sz="1000" u="none" strike="noStrike" dirty="0">
                          <a:solidFill>
                            <a:schemeClr val="tx1"/>
                          </a:solidFill>
                          <a:effectLst/>
                        </a:rPr>
                        <a:t> and S. </a:t>
                      </a:r>
                      <a:r>
                        <a:rPr lang="en-GB" sz="1000" u="none" strike="noStrike" dirty="0" err="1">
                          <a:solidFill>
                            <a:schemeClr val="tx1"/>
                          </a:solidFill>
                          <a:effectLst/>
                        </a:rPr>
                        <a:t>Biloshchytska</a:t>
                      </a:r>
                      <a:r>
                        <a:rPr lang="en-GB" sz="1000" u="none" strike="noStrike" dirty="0">
                          <a:solidFill>
                            <a:schemeClr val="tx1"/>
                          </a:solidFill>
                          <a:effectLst/>
                        </a:rPr>
                        <a:t>, "Forecasting international migration in Kazakhstan using ARIMA models," ScienceDirect,2023. </a:t>
                      </a:r>
                      <a:br>
                        <a:rPr lang="en-GB" sz="1000" u="none" strike="noStrike" dirty="0">
                          <a:solidFill>
                            <a:schemeClr val="tx1"/>
                          </a:solidFill>
                          <a:effectLst/>
                        </a:rPr>
                      </a:br>
                      <a:r>
                        <a:rPr lang="en-GB" sz="1000" u="none" strike="noStrike" dirty="0">
                          <a:solidFill>
                            <a:schemeClr val="tx1"/>
                          </a:solidFill>
                          <a:effectLst/>
                        </a:rPr>
                        <a:t>Available: </a:t>
                      </a:r>
                      <a:r>
                        <a:rPr lang="en-GB" sz="1000" u="none" strike="noStrike" dirty="0">
                          <a:solidFill>
                            <a:schemeClr val="tx1"/>
                          </a:solidFill>
                          <a:effectLst/>
                          <a:hlinkClick r:id="rId5"/>
                        </a:rPr>
                        <a:t>https://www.sciencedirect.com/science/article/pii/S1877050923022020</a:t>
                      </a:r>
                      <a:endParaRPr lang="en-GB" sz="1000" b="0" i="0" u="none" strike="noStrike" dirty="0">
                        <a:solidFill>
                          <a:schemeClr val="tx1"/>
                        </a:solidFill>
                        <a:effectLst/>
                        <a:latin typeface="Calibri" panose="020F0502020204030204" pitchFamily="34" charset="0"/>
                      </a:endParaRPr>
                    </a:p>
                  </a:txBody>
                  <a:tcPr marL="7145" marR="7145" marT="7145" marB="0" anchor="ctr"/>
                </a:tc>
                <a:extLst>
                  <a:ext uri="{0D108BD9-81ED-4DB2-BD59-A6C34878D82A}">
                    <a16:rowId xmlns:a16="http://schemas.microsoft.com/office/drawing/2014/main" val="2784257809"/>
                  </a:ext>
                </a:extLst>
              </a:tr>
            </a:tbl>
          </a:graphicData>
        </a:graphic>
      </p:graphicFrame>
    </p:spTree>
    <p:extLst>
      <p:ext uri="{BB962C8B-B14F-4D97-AF65-F5344CB8AC3E}">
        <p14:creationId xmlns:p14="http://schemas.microsoft.com/office/powerpoint/2010/main" val="734383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146C-6B90-4706-DFC6-B7F6CBBFA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A9F59-0362-78E9-1E16-290AE575DA8A}"/>
              </a:ext>
            </a:extLst>
          </p:cNvPr>
          <p:cNvSpPr>
            <a:spLocks noGrp="1"/>
          </p:cNvSpPr>
          <p:nvPr>
            <p:ph type="title"/>
          </p:nvPr>
        </p:nvSpPr>
        <p:spPr>
          <a:xfrm>
            <a:off x="838655" y="743871"/>
            <a:ext cx="10515600" cy="1032542"/>
          </a:xfrm>
        </p:spPr>
        <p:txBody>
          <a:bodyPr>
            <a:normAutofit/>
          </a:bodyPr>
          <a:lstStyle/>
          <a:p>
            <a:pPr algn="ctr"/>
            <a:r>
              <a:rPr lang="en-IE" sz="4000" b="0" i="0" dirty="0">
                <a:solidFill>
                  <a:schemeClr val="accent1">
                    <a:lumMod val="75000"/>
                  </a:schemeClr>
                </a:solidFill>
                <a:effectLst/>
                <a:latin typeface="Times New Roman" panose="02020603050405020304" pitchFamily="18" charset="0"/>
                <a:cs typeface="Times New Roman" panose="02020603050405020304" pitchFamily="18" charset="0"/>
              </a:rPr>
              <a:t>Methodological Approach</a:t>
            </a:r>
            <a:endParaRPr lang="en-IE" sz="4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582C0852-0716-2E67-B90B-A35C037CC660}"/>
              </a:ext>
            </a:extLst>
          </p:cNvPr>
          <p:cNvSpPr txBox="1">
            <a:spLocks/>
          </p:cNvSpPr>
          <p:nvPr/>
        </p:nvSpPr>
        <p:spPr>
          <a:xfrm>
            <a:off x="838200" y="1816660"/>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GB" sz="1800" dirty="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60735FB6-366F-23E9-D791-895B1B4AFBBC}"/>
              </a:ext>
            </a:extLst>
          </p:cNvPr>
          <p:cNvSpPr/>
          <p:nvPr/>
        </p:nvSpPr>
        <p:spPr>
          <a:xfrm>
            <a:off x="1299883" y="2460415"/>
            <a:ext cx="9439835" cy="36537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dirty="0"/>
              <a:t>To analyze and classify migration patterns, three models will be used: SVM (for binary classification like gender dominance), Random Forest (for identifying top origin/destination countries and feature importance), and XGBoost (to boost prediction accuracy and handle structured data efficiently). These models are chosen for their strength in uncovering hidden trends within complex migration data.</a:t>
            </a:r>
          </a:p>
          <a:p>
            <a:pPr algn="just"/>
            <a:br>
              <a:rPr lang="en-GB" dirty="0"/>
            </a:br>
            <a:r>
              <a:rPr lang="en-GB" dirty="0"/>
              <a:t>Power BI will be used to create interactive visuals that make gender and country-level migration trends easier to interpret. For forecasting, ARIMA will be applied to project future migration stock levels using historical trends, supporting data-driven planning and policy decisions.</a:t>
            </a:r>
          </a:p>
        </p:txBody>
      </p:sp>
    </p:spTree>
    <p:extLst>
      <p:ext uri="{BB962C8B-B14F-4D97-AF65-F5344CB8AC3E}">
        <p14:creationId xmlns:p14="http://schemas.microsoft.com/office/powerpoint/2010/main" val="716497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9259-EF66-5F44-DD46-93052F2033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532F1D-7931-9836-A1C9-2A8C09B5B0AD}"/>
              </a:ext>
            </a:extLst>
          </p:cNvPr>
          <p:cNvSpPr>
            <a:spLocks noGrp="1"/>
          </p:cNvSpPr>
          <p:nvPr>
            <p:ph type="title"/>
          </p:nvPr>
        </p:nvSpPr>
        <p:spPr>
          <a:xfrm>
            <a:off x="757973" y="3182271"/>
            <a:ext cx="10515600" cy="1032542"/>
          </a:xfrm>
        </p:spPr>
        <p:txBody>
          <a:bodyPr>
            <a:normAutofit/>
          </a:bodyPr>
          <a:lstStyle/>
          <a:p>
            <a:pPr algn="ctr"/>
            <a:r>
              <a:rPr lang="en-IE" sz="4800" dirty="0">
                <a:solidFill>
                  <a:schemeClr val="accent1">
                    <a:lumMod val="75000"/>
                  </a:schemeClr>
                </a:solidFill>
                <a:latin typeface="Times New Roman" panose="02020603050405020304" pitchFamily="18" charset="0"/>
                <a:cs typeface="Times New Roman" panose="02020603050405020304" pitchFamily="18" charset="0"/>
              </a:rPr>
              <a:t>Thank You</a:t>
            </a:r>
          </a:p>
        </p:txBody>
      </p:sp>
      <p:sp>
        <p:nvSpPr>
          <p:cNvPr id="9" name="Content Placeholder 2">
            <a:extLst>
              <a:ext uri="{FF2B5EF4-FFF2-40B4-BE49-F238E27FC236}">
                <a16:creationId xmlns:a16="http://schemas.microsoft.com/office/drawing/2014/main" id="{E103C75E-1E43-0A9B-4CCD-48A2FEADECD7}"/>
              </a:ext>
            </a:extLst>
          </p:cNvPr>
          <p:cNvSpPr txBox="1">
            <a:spLocks/>
          </p:cNvSpPr>
          <p:nvPr/>
        </p:nvSpPr>
        <p:spPr>
          <a:xfrm>
            <a:off x="838200" y="1816660"/>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4128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2185</TotalTime>
  <Words>602</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PowerPoint Presentation</vt:lpstr>
      <vt:lpstr>Research Questions</vt:lpstr>
      <vt:lpstr>Research Objectives</vt:lpstr>
      <vt:lpstr>Literature Review</vt:lpstr>
      <vt:lpstr>Methodological Approach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Oleksandr Bezrukavyi</dc:creator>
  <cp:lastModifiedBy>uma konar</cp:lastModifiedBy>
  <cp:revision>90</cp:revision>
  <dcterms:created xsi:type="dcterms:W3CDTF">2019-06-20T09:06:14Z</dcterms:created>
  <dcterms:modified xsi:type="dcterms:W3CDTF">2025-04-18T15:54:52Z</dcterms:modified>
</cp:coreProperties>
</file>